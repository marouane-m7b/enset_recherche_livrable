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1374100" cy="302768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129" y="-206319"/>
            <a:ext cx="21712259" cy="3925086"/>
            <a:chOff x="0" y="0"/>
            <a:chExt cx="2750923" cy="4973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50923" cy="497305"/>
            </a:xfrm>
            <a:custGeom>
              <a:avLst/>
              <a:gdLst/>
              <a:ahLst/>
              <a:cxnLst/>
              <a:rect r="r" b="b" t="t" l="l"/>
              <a:pathLst>
                <a:path h="497305" w="2750923">
                  <a:moveTo>
                    <a:pt x="0" y="0"/>
                  </a:moveTo>
                  <a:lnTo>
                    <a:pt x="2750923" y="0"/>
                  </a:lnTo>
                  <a:lnTo>
                    <a:pt x="2750923" y="497305"/>
                  </a:lnTo>
                  <a:lnTo>
                    <a:pt x="0" y="497305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4A7FF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750923" cy="602080"/>
            </a:xfrm>
            <a:prstGeom prst="rect">
              <a:avLst/>
            </a:prstGeom>
          </p:spPr>
          <p:txBody>
            <a:bodyPr anchor="ctr" rtlCol="false" tIns="71846" lIns="71846" bIns="71846" rIns="71846"/>
            <a:lstStyle/>
            <a:p>
              <a:pPr algn="ctr">
                <a:lnSpc>
                  <a:spcPts val="4751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5091429" y="4853314"/>
            <a:ext cx="0" cy="22147714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6292571" y="4853314"/>
            <a:ext cx="0" cy="22147714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406394" y="12300316"/>
            <a:ext cx="4445524" cy="10103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377596" y="2966160"/>
            <a:ext cx="17136000" cy="1593409"/>
            <a:chOff x="0" y="0"/>
            <a:chExt cx="3070606" cy="2855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70606" cy="285537"/>
            </a:xfrm>
            <a:custGeom>
              <a:avLst/>
              <a:gdLst/>
              <a:ahLst/>
              <a:cxnLst/>
              <a:rect r="r" b="b" t="t" l="l"/>
              <a:pathLst>
                <a:path h="285537" w="3070606">
                  <a:moveTo>
                    <a:pt x="3070606" y="4970"/>
                  </a:moveTo>
                  <a:lnTo>
                    <a:pt x="3070606" y="280567"/>
                  </a:lnTo>
                  <a:cubicBezTo>
                    <a:pt x="3070606" y="283312"/>
                    <a:pt x="3068381" y="285537"/>
                    <a:pt x="3065636" y="285537"/>
                  </a:cubicBezTo>
                  <a:lnTo>
                    <a:pt x="4970" y="285537"/>
                  </a:lnTo>
                  <a:cubicBezTo>
                    <a:pt x="2225" y="285537"/>
                    <a:pt x="0" y="283312"/>
                    <a:pt x="0" y="280567"/>
                  </a:cubicBezTo>
                  <a:lnTo>
                    <a:pt x="0" y="4970"/>
                  </a:lnTo>
                  <a:cubicBezTo>
                    <a:pt x="0" y="2225"/>
                    <a:pt x="2225" y="0"/>
                    <a:pt x="4970" y="0"/>
                  </a:cubicBezTo>
                  <a:lnTo>
                    <a:pt x="3065636" y="0"/>
                  </a:lnTo>
                  <a:cubicBezTo>
                    <a:pt x="3068381" y="0"/>
                    <a:pt x="3070606" y="2225"/>
                    <a:pt x="3070606" y="4970"/>
                  </a:cubicBezTo>
                  <a:close/>
                </a:path>
              </a:pathLst>
            </a:custGeom>
            <a:solidFill>
              <a:srgbClr val="4A7FF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070606" cy="342687"/>
            </a:xfrm>
            <a:prstGeom prst="rect">
              <a:avLst/>
            </a:prstGeom>
          </p:spPr>
          <p:txBody>
            <a:bodyPr anchor="ctr" rtlCol="false" tIns="23333" lIns="23333" bIns="23333" rIns="23333"/>
            <a:lstStyle/>
            <a:p>
              <a:pPr algn="ctr">
                <a:lnSpc>
                  <a:spcPts val="3086"/>
                </a:lnSpc>
              </a:pP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432713" y="8885431"/>
            <a:ext cx="3907346" cy="4484266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906207" y="8337238"/>
            <a:ext cx="7616741" cy="5500676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flipH="true" flipV="true">
            <a:off x="14833620" y="11343523"/>
            <a:ext cx="0" cy="633686"/>
          </a:xfrm>
          <a:prstGeom prst="line">
            <a:avLst/>
          </a:prstGeom>
          <a:ln cap="flat" w="66675">
            <a:solidFill>
              <a:srgbClr val="4A7FF7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25713" y="6027281"/>
            <a:ext cx="1944878" cy="1943140"/>
            <a:chOff x="0" y="0"/>
            <a:chExt cx="348500" cy="3481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8500" cy="348189"/>
            </a:xfrm>
            <a:custGeom>
              <a:avLst/>
              <a:gdLst/>
              <a:ahLst/>
              <a:cxnLst/>
              <a:rect r="r" b="b" t="t" l="l"/>
              <a:pathLst>
                <a:path h="348189" w="348500">
                  <a:moveTo>
                    <a:pt x="55729" y="0"/>
                  </a:moveTo>
                  <a:lnTo>
                    <a:pt x="292771" y="0"/>
                  </a:lnTo>
                  <a:cubicBezTo>
                    <a:pt x="307551" y="0"/>
                    <a:pt x="321726" y="5871"/>
                    <a:pt x="332177" y="16323"/>
                  </a:cubicBezTo>
                  <a:cubicBezTo>
                    <a:pt x="342629" y="26774"/>
                    <a:pt x="348500" y="40949"/>
                    <a:pt x="348500" y="55729"/>
                  </a:cubicBezTo>
                  <a:lnTo>
                    <a:pt x="348500" y="292459"/>
                  </a:lnTo>
                  <a:cubicBezTo>
                    <a:pt x="348500" y="307240"/>
                    <a:pt x="342629" y="321415"/>
                    <a:pt x="332177" y="331866"/>
                  </a:cubicBezTo>
                  <a:cubicBezTo>
                    <a:pt x="321726" y="342317"/>
                    <a:pt x="307551" y="348189"/>
                    <a:pt x="292771" y="348189"/>
                  </a:cubicBezTo>
                  <a:lnTo>
                    <a:pt x="55729" y="348189"/>
                  </a:lnTo>
                  <a:cubicBezTo>
                    <a:pt x="40949" y="348189"/>
                    <a:pt x="26774" y="342317"/>
                    <a:pt x="16323" y="331866"/>
                  </a:cubicBezTo>
                  <a:cubicBezTo>
                    <a:pt x="5871" y="321415"/>
                    <a:pt x="0" y="307240"/>
                    <a:pt x="0" y="292459"/>
                  </a:cubicBezTo>
                  <a:lnTo>
                    <a:pt x="0" y="55729"/>
                  </a:lnTo>
                  <a:cubicBezTo>
                    <a:pt x="0" y="40949"/>
                    <a:pt x="5871" y="26774"/>
                    <a:pt x="16323" y="16323"/>
                  </a:cubicBezTo>
                  <a:cubicBezTo>
                    <a:pt x="26774" y="5871"/>
                    <a:pt x="40949" y="0"/>
                    <a:pt x="55729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348500" cy="42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  <a:r>
                <a:rPr lang="en-US" b="true" sz="237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SOURCE</a:t>
              </a:r>
            </a:p>
            <a:p>
              <a:pPr algn="ctr">
                <a:lnSpc>
                  <a:spcPts val="3326"/>
                </a:lnSpc>
              </a:pPr>
              <a:r>
                <a:rPr lang="en-US" sz="237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CIC-IDS2017</a:t>
              </a:r>
            </a:p>
            <a:p>
              <a:pPr algn="ctr">
                <a:lnSpc>
                  <a:spcPts val="3326"/>
                </a:lnSpc>
              </a:pPr>
              <a:r>
                <a:rPr lang="en-US" sz="237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8 CSV · 800k lignes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72823" y="6027281"/>
            <a:ext cx="2506826" cy="1943140"/>
            <a:chOff x="0" y="0"/>
            <a:chExt cx="449195" cy="3481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195" cy="348189"/>
            </a:xfrm>
            <a:custGeom>
              <a:avLst/>
              <a:gdLst/>
              <a:ahLst/>
              <a:cxnLst/>
              <a:rect r="r" b="b" t="t" l="l"/>
              <a:pathLst>
                <a:path h="348189" w="449195">
                  <a:moveTo>
                    <a:pt x="43237" y="0"/>
                  </a:moveTo>
                  <a:lnTo>
                    <a:pt x="405958" y="0"/>
                  </a:lnTo>
                  <a:cubicBezTo>
                    <a:pt x="417425" y="0"/>
                    <a:pt x="428423" y="4555"/>
                    <a:pt x="436531" y="12664"/>
                  </a:cubicBezTo>
                  <a:cubicBezTo>
                    <a:pt x="444640" y="20772"/>
                    <a:pt x="449195" y="31770"/>
                    <a:pt x="449195" y="43237"/>
                  </a:cubicBezTo>
                  <a:lnTo>
                    <a:pt x="449195" y="304952"/>
                  </a:lnTo>
                  <a:cubicBezTo>
                    <a:pt x="449195" y="328831"/>
                    <a:pt x="429837" y="348189"/>
                    <a:pt x="405958" y="348189"/>
                  </a:cubicBezTo>
                  <a:lnTo>
                    <a:pt x="43237" y="348189"/>
                  </a:lnTo>
                  <a:cubicBezTo>
                    <a:pt x="19358" y="348189"/>
                    <a:pt x="0" y="328831"/>
                    <a:pt x="0" y="304952"/>
                  </a:cubicBezTo>
                  <a:lnTo>
                    <a:pt x="0" y="43237"/>
                  </a:lnTo>
                  <a:cubicBezTo>
                    <a:pt x="0" y="19358"/>
                    <a:pt x="19358" y="0"/>
                    <a:pt x="4323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449195" cy="424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  <a:r>
                <a:rPr lang="en-US" sz="23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Inf → NaN → Médiane</a:t>
              </a:r>
            </a:p>
            <a:p>
              <a:pPr algn="ctr">
                <a:lnSpc>
                  <a:spcPts val="3326"/>
                </a:lnSpc>
              </a:pPr>
              <a:r>
                <a:rPr lang="en-US" sz="23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StandardScaler</a:t>
              </a:r>
            </a:p>
            <a:p>
              <a:pPr algn="ctr">
                <a:lnSpc>
                  <a:spcPts val="3326"/>
                </a:lnSpc>
              </a:pPr>
              <a:r>
                <a:rPr lang="en-US" sz="23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(train only)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644097" y="5818479"/>
            <a:ext cx="1524483" cy="2360743"/>
            <a:chOff x="0" y="0"/>
            <a:chExt cx="273170" cy="4230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3170" cy="423018"/>
            </a:xfrm>
            <a:custGeom>
              <a:avLst/>
              <a:gdLst/>
              <a:ahLst/>
              <a:cxnLst/>
              <a:rect r="r" b="b" t="t" l="l"/>
              <a:pathLst>
                <a:path h="423018" w="273170">
                  <a:moveTo>
                    <a:pt x="71097" y="0"/>
                  </a:moveTo>
                  <a:lnTo>
                    <a:pt x="202073" y="0"/>
                  </a:lnTo>
                  <a:cubicBezTo>
                    <a:pt x="241339" y="0"/>
                    <a:pt x="273170" y="31831"/>
                    <a:pt x="273170" y="71097"/>
                  </a:cubicBezTo>
                  <a:lnTo>
                    <a:pt x="273170" y="351921"/>
                  </a:lnTo>
                  <a:cubicBezTo>
                    <a:pt x="273170" y="391187"/>
                    <a:pt x="241339" y="423018"/>
                    <a:pt x="202073" y="423018"/>
                  </a:cubicBezTo>
                  <a:lnTo>
                    <a:pt x="71097" y="423018"/>
                  </a:lnTo>
                  <a:cubicBezTo>
                    <a:pt x="31831" y="423018"/>
                    <a:pt x="0" y="391187"/>
                    <a:pt x="0" y="351921"/>
                  </a:cubicBezTo>
                  <a:lnTo>
                    <a:pt x="0" y="71097"/>
                  </a:lnTo>
                  <a:cubicBezTo>
                    <a:pt x="0" y="31831"/>
                    <a:pt x="31831" y="0"/>
                    <a:pt x="71097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273170" cy="499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  <a:r>
                <a:rPr lang="en-US" b="true" sz="237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ÉVAL.</a:t>
              </a:r>
            </a:p>
            <a:p>
              <a:pPr algn="ctr">
                <a:lnSpc>
                  <a:spcPts val="3326"/>
                </a:lnSpc>
              </a:pPr>
              <a:r>
                <a:rPr lang="en-US" sz="23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PR-AUC</a:t>
              </a:r>
            </a:p>
            <a:p>
              <a:pPr algn="ctr">
                <a:lnSpc>
                  <a:spcPts val="3326"/>
                </a:lnSpc>
              </a:pPr>
              <a:r>
                <a:rPr lang="en-US" sz="23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F1 Latence</a:t>
              </a:r>
            </a:p>
            <a:p>
              <a:pPr algn="ctr">
                <a:lnSpc>
                  <a:spcPts val="3326"/>
                </a:lnSpc>
              </a:pPr>
              <a:r>
                <a:rPr lang="en-US" sz="23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5 runs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412919" y="5818479"/>
            <a:ext cx="2028947" cy="2360743"/>
            <a:chOff x="0" y="0"/>
            <a:chExt cx="363564" cy="4230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3564" cy="423018"/>
            </a:xfrm>
            <a:custGeom>
              <a:avLst/>
              <a:gdLst/>
              <a:ahLst/>
              <a:cxnLst/>
              <a:rect r="r" b="b" t="t" l="l"/>
              <a:pathLst>
                <a:path h="423018" w="363564">
                  <a:moveTo>
                    <a:pt x="53420" y="0"/>
                  </a:moveTo>
                  <a:lnTo>
                    <a:pt x="310144" y="0"/>
                  </a:lnTo>
                  <a:cubicBezTo>
                    <a:pt x="339647" y="0"/>
                    <a:pt x="363564" y="23917"/>
                    <a:pt x="363564" y="53420"/>
                  </a:cubicBezTo>
                  <a:lnTo>
                    <a:pt x="363564" y="369598"/>
                  </a:lnTo>
                  <a:cubicBezTo>
                    <a:pt x="363564" y="399101"/>
                    <a:pt x="339647" y="423018"/>
                    <a:pt x="310144" y="423018"/>
                  </a:cubicBezTo>
                  <a:lnTo>
                    <a:pt x="53420" y="423018"/>
                  </a:lnTo>
                  <a:cubicBezTo>
                    <a:pt x="23917" y="423018"/>
                    <a:pt x="0" y="399101"/>
                    <a:pt x="0" y="369598"/>
                  </a:cubicBezTo>
                  <a:lnTo>
                    <a:pt x="0" y="53420"/>
                  </a:lnTo>
                  <a:cubicBezTo>
                    <a:pt x="0" y="23917"/>
                    <a:pt x="23917" y="0"/>
                    <a:pt x="5342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363564" cy="499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  <a:r>
                <a:rPr lang="en-US" sz="237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RF (78 feat), LinearSVM (78 feat), RF → SVM (14 feat) 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81880" y="5818479"/>
            <a:ext cx="2128807" cy="2360743"/>
            <a:chOff x="0" y="0"/>
            <a:chExt cx="381458" cy="4230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1458" cy="423018"/>
            </a:xfrm>
            <a:custGeom>
              <a:avLst/>
              <a:gdLst/>
              <a:ahLst/>
              <a:cxnLst/>
              <a:rect r="r" b="b" t="t" l="l"/>
              <a:pathLst>
                <a:path h="423018" w="381458">
                  <a:moveTo>
                    <a:pt x="50914" y="0"/>
                  </a:moveTo>
                  <a:lnTo>
                    <a:pt x="330544" y="0"/>
                  </a:lnTo>
                  <a:cubicBezTo>
                    <a:pt x="358663" y="0"/>
                    <a:pt x="381458" y="22795"/>
                    <a:pt x="381458" y="50914"/>
                  </a:cubicBezTo>
                  <a:lnTo>
                    <a:pt x="381458" y="372104"/>
                  </a:lnTo>
                  <a:cubicBezTo>
                    <a:pt x="381458" y="400223"/>
                    <a:pt x="358663" y="423018"/>
                    <a:pt x="330544" y="423018"/>
                  </a:cubicBezTo>
                  <a:lnTo>
                    <a:pt x="50914" y="423018"/>
                  </a:lnTo>
                  <a:cubicBezTo>
                    <a:pt x="22795" y="423018"/>
                    <a:pt x="0" y="400223"/>
                    <a:pt x="0" y="372104"/>
                  </a:cubicBezTo>
                  <a:lnTo>
                    <a:pt x="0" y="50914"/>
                  </a:lnTo>
                  <a:cubicBezTo>
                    <a:pt x="0" y="22795"/>
                    <a:pt x="22795" y="0"/>
                    <a:pt x="5091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381458" cy="499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  <a:r>
                <a:rPr lang="en-US" b="true" sz="2376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Split stratifié</a:t>
              </a:r>
              <a:r>
                <a:rPr lang="en-US" sz="237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Train 640k</a:t>
              </a:r>
            </a:p>
            <a:p>
              <a:pPr algn="ctr">
                <a:lnSpc>
                  <a:spcPts val="3326"/>
                </a:lnSpc>
              </a:pPr>
              <a:r>
                <a:rPr lang="en-US" sz="237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Test 160k</a:t>
              </a:r>
            </a:p>
            <a:p>
              <a:pPr algn="ctr">
                <a:lnSpc>
                  <a:spcPts val="3326"/>
                </a:lnSpc>
              </a:pPr>
              <a:r>
                <a:rPr lang="en-US" sz="237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5 graines indép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flipH="true">
            <a:off x="7170591" y="6998851"/>
            <a:ext cx="20223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>
            <a:off x="12210687" y="6998851"/>
            <a:ext cx="20223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>
            <a:off x="9879649" y="6998851"/>
            <a:ext cx="20223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>
            <a:off x="14441865" y="6998851"/>
            <a:ext cx="20223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6622613" y="15740417"/>
            <a:ext cx="4526362" cy="20207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5417675" y="13879106"/>
            <a:ext cx="10548695" cy="20207"/>
          </a:xfrm>
          <a:prstGeom prst="line">
            <a:avLst/>
          </a:prstGeom>
          <a:ln cap="flat" w="38100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9036019" y="14903360"/>
            <a:ext cx="3311963" cy="1416374"/>
            <a:chOff x="0" y="0"/>
            <a:chExt cx="593466" cy="25379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3466" cy="253798"/>
            </a:xfrm>
            <a:custGeom>
              <a:avLst/>
              <a:gdLst/>
              <a:ahLst/>
              <a:cxnLst/>
              <a:rect r="r" b="b" t="t" l="l"/>
              <a:pathLst>
                <a:path h="253798" w="593466">
                  <a:moveTo>
                    <a:pt x="32726" y="0"/>
                  </a:moveTo>
                  <a:lnTo>
                    <a:pt x="560740" y="0"/>
                  </a:lnTo>
                  <a:cubicBezTo>
                    <a:pt x="569420" y="0"/>
                    <a:pt x="577744" y="3448"/>
                    <a:pt x="583881" y="9585"/>
                  </a:cubicBezTo>
                  <a:cubicBezTo>
                    <a:pt x="590018" y="15722"/>
                    <a:pt x="593466" y="24046"/>
                    <a:pt x="593466" y="32726"/>
                  </a:cubicBezTo>
                  <a:lnTo>
                    <a:pt x="593466" y="221072"/>
                  </a:lnTo>
                  <a:cubicBezTo>
                    <a:pt x="593466" y="239146"/>
                    <a:pt x="578814" y="253798"/>
                    <a:pt x="560740" y="253798"/>
                  </a:cubicBezTo>
                  <a:lnTo>
                    <a:pt x="32726" y="253798"/>
                  </a:lnTo>
                  <a:cubicBezTo>
                    <a:pt x="14652" y="253798"/>
                    <a:pt x="0" y="239146"/>
                    <a:pt x="0" y="221072"/>
                  </a:cubicBezTo>
                  <a:lnTo>
                    <a:pt x="0" y="32726"/>
                  </a:lnTo>
                  <a:cubicBezTo>
                    <a:pt x="0" y="14652"/>
                    <a:pt x="14652" y="0"/>
                    <a:pt x="3272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33350"/>
              <a:ext cx="593466" cy="387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336"/>
                </a:lnSpc>
              </a:pPr>
              <a:r>
                <a:rPr lang="en-US" sz="4525" b="true">
                  <a:solidFill>
                    <a:srgbClr val="4A7FF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21 ms</a:t>
              </a:r>
            </a:p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Latence RF — &lt; 50 ms ✓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89696" y="14903360"/>
            <a:ext cx="3311963" cy="1416374"/>
            <a:chOff x="0" y="0"/>
            <a:chExt cx="593466" cy="25379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3466" cy="253798"/>
            </a:xfrm>
            <a:custGeom>
              <a:avLst/>
              <a:gdLst/>
              <a:ahLst/>
              <a:cxnLst/>
              <a:rect r="r" b="b" t="t" l="l"/>
              <a:pathLst>
                <a:path h="253798" w="593466">
                  <a:moveTo>
                    <a:pt x="32726" y="0"/>
                  </a:moveTo>
                  <a:lnTo>
                    <a:pt x="560740" y="0"/>
                  </a:lnTo>
                  <a:cubicBezTo>
                    <a:pt x="569420" y="0"/>
                    <a:pt x="577744" y="3448"/>
                    <a:pt x="583881" y="9585"/>
                  </a:cubicBezTo>
                  <a:cubicBezTo>
                    <a:pt x="590018" y="15722"/>
                    <a:pt x="593466" y="24046"/>
                    <a:pt x="593466" y="32726"/>
                  </a:cubicBezTo>
                  <a:lnTo>
                    <a:pt x="593466" y="221072"/>
                  </a:lnTo>
                  <a:cubicBezTo>
                    <a:pt x="593466" y="239146"/>
                    <a:pt x="578814" y="253798"/>
                    <a:pt x="560740" y="253798"/>
                  </a:cubicBezTo>
                  <a:lnTo>
                    <a:pt x="32726" y="253798"/>
                  </a:lnTo>
                  <a:cubicBezTo>
                    <a:pt x="14652" y="253798"/>
                    <a:pt x="0" y="239146"/>
                    <a:pt x="0" y="221072"/>
                  </a:cubicBezTo>
                  <a:lnTo>
                    <a:pt x="0" y="32726"/>
                  </a:lnTo>
                  <a:cubicBezTo>
                    <a:pt x="0" y="14652"/>
                    <a:pt x="14652" y="0"/>
                    <a:pt x="3272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33350"/>
              <a:ext cx="593466" cy="387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336"/>
                </a:lnSpc>
              </a:pPr>
              <a:r>
                <a:rPr lang="en-US" sz="4525" b="true">
                  <a:solidFill>
                    <a:srgbClr val="4A7FF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0.9997</a:t>
              </a:r>
            </a:p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PR-AUC — RF (78 feat.)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682341" y="14903360"/>
            <a:ext cx="3311963" cy="1416374"/>
            <a:chOff x="0" y="0"/>
            <a:chExt cx="593466" cy="25379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3466" cy="253798"/>
            </a:xfrm>
            <a:custGeom>
              <a:avLst/>
              <a:gdLst/>
              <a:ahLst/>
              <a:cxnLst/>
              <a:rect r="r" b="b" t="t" l="l"/>
              <a:pathLst>
                <a:path h="253798" w="593466">
                  <a:moveTo>
                    <a:pt x="32726" y="0"/>
                  </a:moveTo>
                  <a:lnTo>
                    <a:pt x="560740" y="0"/>
                  </a:lnTo>
                  <a:cubicBezTo>
                    <a:pt x="569420" y="0"/>
                    <a:pt x="577744" y="3448"/>
                    <a:pt x="583881" y="9585"/>
                  </a:cubicBezTo>
                  <a:cubicBezTo>
                    <a:pt x="590018" y="15722"/>
                    <a:pt x="593466" y="24046"/>
                    <a:pt x="593466" y="32726"/>
                  </a:cubicBezTo>
                  <a:lnTo>
                    <a:pt x="593466" y="221072"/>
                  </a:lnTo>
                  <a:cubicBezTo>
                    <a:pt x="593466" y="239146"/>
                    <a:pt x="578814" y="253798"/>
                    <a:pt x="560740" y="253798"/>
                  </a:cubicBezTo>
                  <a:lnTo>
                    <a:pt x="32726" y="253798"/>
                  </a:lnTo>
                  <a:cubicBezTo>
                    <a:pt x="14652" y="253798"/>
                    <a:pt x="0" y="239146"/>
                    <a:pt x="0" y="221072"/>
                  </a:cubicBezTo>
                  <a:lnTo>
                    <a:pt x="0" y="32726"/>
                  </a:lnTo>
                  <a:cubicBezTo>
                    <a:pt x="0" y="14652"/>
                    <a:pt x="14652" y="0"/>
                    <a:pt x="32726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133350"/>
              <a:ext cx="593466" cy="387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336"/>
                </a:lnSpc>
              </a:pPr>
              <a:r>
                <a:rPr lang="en-US" sz="4525" b="true">
                  <a:solidFill>
                    <a:srgbClr val="4A7FF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−0.256</a:t>
              </a:r>
            </a:p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Chute SVM sous ablation</a:t>
              </a:r>
            </a:p>
          </p:txBody>
        </p:sp>
      </p:grpSp>
      <p:graphicFrame>
        <p:nvGraphicFramePr>
          <p:cNvPr name="Table 44" id="44"/>
          <p:cNvGraphicFramePr>
            <a:graphicFrameLocks noGrp="true"/>
          </p:cNvGraphicFramePr>
          <p:nvPr/>
        </p:nvGraphicFramePr>
        <p:xfrm>
          <a:off x="5630317" y="23873502"/>
          <a:ext cx="10398443" cy="3125289"/>
        </p:xfrm>
        <a:graphic>
          <a:graphicData uri="http://schemas.openxmlformats.org/drawingml/2006/table">
            <a:tbl>
              <a:tblPr/>
              <a:tblGrid>
                <a:gridCol w="2421882"/>
                <a:gridCol w="2042727"/>
                <a:gridCol w="1478304"/>
                <a:gridCol w="1434756"/>
                <a:gridCol w="1442142"/>
                <a:gridCol w="1578632"/>
              </a:tblGrid>
              <a:tr h="5208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Modèle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F1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Lat. (ms)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Recall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Exp.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PR-AUC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F7"/>
                    </a:solidFill>
                  </a:tcPr>
                </a:tc>
              </a:tr>
              <a:tr h="5208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RF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0.9969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21.03 ✓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0.9976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H1 · 78 feat.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0.9997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8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LinearSVM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0.8009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0.66 ✓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0.9605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H1 · 78 feat.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0.9177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8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Hybrid RF→SVM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0.7244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0.83 ✓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0.9698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H2 · top-14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0.8137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8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SVM-RBF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0.6962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0.86 ✓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0.9362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H3 · top-10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0.6620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8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RF top-10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0.9811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22.77 ✓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0.9895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H3 · ablation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defRPr/>
                      </a:pPr>
                      <a:r>
                        <a:rPr lang="en-US" sz="1838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0.9965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3884">
                      <a:solidFill>
                        <a:srgbClr val="4A7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5" id="45"/>
          <p:cNvGrpSpPr/>
          <p:nvPr/>
        </p:nvGrpSpPr>
        <p:grpSpPr>
          <a:xfrm rot="0">
            <a:off x="-164129" y="27152507"/>
            <a:ext cx="21712259" cy="3362515"/>
            <a:chOff x="0" y="0"/>
            <a:chExt cx="2750923" cy="4260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50923" cy="426028"/>
            </a:xfrm>
            <a:custGeom>
              <a:avLst/>
              <a:gdLst/>
              <a:ahLst/>
              <a:cxnLst/>
              <a:rect r="r" b="b" t="t" l="l"/>
              <a:pathLst>
                <a:path h="426028" w="2750923">
                  <a:moveTo>
                    <a:pt x="0" y="0"/>
                  </a:moveTo>
                  <a:lnTo>
                    <a:pt x="2750923" y="0"/>
                  </a:lnTo>
                  <a:lnTo>
                    <a:pt x="2750923" y="426028"/>
                  </a:lnTo>
                  <a:lnTo>
                    <a:pt x="0" y="426028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4A7FF7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104775"/>
              <a:ext cx="2750923" cy="530803"/>
            </a:xfrm>
            <a:prstGeom prst="rect">
              <a:avLst/>
            </a:prstGeom>
          </p:spPr>
          <p:txBody>
            <a:bodyPr anchor="ctr" rtlCol="false" tIns="71846" lIns="71846" bIns="71846" rIns="71846"/>
            <a:lstStyle/>
            <a:p>
              <a:pPr algn="ctr">
                <a:lnSpc>
                  <a:spcPts val="4751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5492779" y="20667936"/>
            <a:ext cx="10398443" cy="2585897"/>
          </a:xfrm>
          <a:custGeom>
            <a:avLst/>
            <a:gdLst/>
            <a:ahLst/>
            <a:cxnLst/>
            <a:rect r="r" b="b" t="t" l="l"/>
            <a:pathLst>
              <a:path h="2585897" w="10398443">
                <a:moveTo>
                  <a:pt x="0" y="0"/>
                </a:moveTo>
                <a:lnTo>
                  <a:pt x="10398442" y="0"/>
                </a:lnTo>
                <a:lnTo>
                  <a:pt x="10398442" y="2585897"/>
                </a:lnTo>
                <a:lnTo>
                  <a:pt x="0" y="258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080" r="0" b="0"/>
            </a:stretch>
          </a:blipFill>
        </p:spPr>
      </p:sp>
      <p:pic>
        <p:nvPicPr>
          <p:cNvPr name="Picture 49" id="4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893434" y="13115502"/>
            <a:ext cx="5989709" cy="2944274"/>
          </a:xfrm>
          <a:prstGeom prst="rect">
            <a:avLst/>
          </a:prstGeom>
        </p:spPr>
      </p:pic>
      <p:sp>
        <p:nvSpPr>
          <p:cNvPr name="Freeform 50" id="50"/>
          <p:cNvSpPr/>
          <p:nvPr/>
        </p:nvSpPr>
        <p:spPr>
          <a:xfrm flipH="false" flipV="false" rot="0">
            <a:off x="6221709" y="17097560"/>
            <a:ext cx="8906821" cy="2944693"/>
          </a:xfrm>
          <a:custGeom>
            <a:avLst/>
            <a:gdLst/>
            <a:ahLst/>
            <a:cxnLst/>
            <a:rect r="r" b="b" t="t" l="l"/>
            <a:pathLst>
              <a:path h="2944693" w="8906821">
                <a:moveTo>
                  <a:pt x="0" y="0"/>
                </a:moveTo>
                <a:lnTo>
                  <a:pt x="8906821" y="0"/>
                </a:lnTo>
                <a:lnTo>
                  <a:pt x="8906821" y="2944694"/>
                </a:lnTo>
                <a:lnTo>
                  <a:pt x="0" y="29446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8579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6521292" y="22097865"/>
            <a:ext cx="4691722" cy="3839111"/>
            <a:chOff x="0" y="0"/>
            <a:chExt cx="594437" cy="4864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4437" cy="486412"/>
            </a:xfrm>
            <a:custGeom>
              <a:avLst/>
              <a:gdLst/>
              <a:ahLst/>
              <a:cxnLst/>
              <a:rect r="r" b="b" t="t" l="l"/>
              <a:pathLst>
                <a:path h="486412" w="594437">
                  <a:moveTo>
                    <a:pt x="23337" y="0"/>
                  </a:moveTo>
                  <a:lnTo>
                    <a:pt x="571099" y="0"/>
                  </a:lnTo>
                  <a:cubicBezTo>
                    <a:pt x="577289" y="0"/>
                    <a:pt x="583225" y="2459"/>
                    <a:pt x="587602" y="6835"/>
                  </a:cubicBezTo>
                  <a:cubicBezTo>
                    <a:pt x="591978" y="11212"/>
                    <a:pt x="594437" y="17148"/>
                    <a:pt x="594437" y="23337"/>
                  </a:cubicBezTo>
                  <a:lnTo>
                    <a:pt x="594437" y="463074"/>
                  </a:lnTo>
                  <a:cubicBezTo>
                    <a:pt x="594437" y="475963"/>
                    <a:pt x="583988" y="486412"/>
                    <a:pt x="571099" y="486412"/>
                  </a:cubicBezTo>
                  <a:lnTo>
                    <a:pt x="23337" y="486412"/>
                  </a:lnTo>
                  <a:cubicBezTo>
                    <a:pt x="10449" y="486412"/>
                    <a:pt x="0" y="475963"/>
                    <a:pt x="0" y="463074"/>
                  </a:cubicBezTo>
                  <a:lnTo>
                    <a:pt x="0" y="23337"/>
                  </a:lnTo>
                  <a:cubicBezTo>
                    <a:pt x="0" y="10449"/>
                    <a:pt x="10449" y="0"/>
                    <a:pt x="23337" y="0"/>
                  </a:cubicBezTo>
                  <a:close/>
                </a:path>
              </a:pathLst>
            </a:custGeom>
            <a:solidFill>
              <a:srgbClr val="DBE6FF"/>
            </a:solidFill>
            <a:ln w="28575" cap="sq">
              <a:solidFill>
                <a:srgbClr val="4A7FF7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594437" cy="553087"/>
            </a:xfrm>
            <a:prstGeom prst="rect">
              <a:avLst/>
            </a:prstGeom>
          </p:spPr>
          <p:txBody>
            <a:bodyPr anchor="ctr" rtlCol="false" tIns="71846" lIns="71846" bIns="71846" rIns="71846"/>
            <a:lstStyle/>
            <a:p>
              <a:pPr algn="l">
                <a:lnSpc>
                  <a:spcPts val="3167"/>
                </a:lnSpc>
              </a:pPr>
              <a:r>
                <a:rPr lang="en-US" sz="2262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Perspectives :</a:t>
              </a:r>
            </a:p>
            <a:p>
              <a:pPr algn="l" marL="488550" indent="-244275" lvl="1">
                <a:lnSpc>
                  <a:spcPts val="3167"/>
                </a:lnSpc>
                <a:buFont typeface="Arial"/>
                <a:buChar char="•"/>
              </a:pPr>
              <a:r>
                <a:rPr lang="en-US" sz="226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Évaluation sur UNSW-NB15 et CIC-IDS2018.</a:t>
              </a:r>
            </a:p>
            <a:p>
              <a:pPr algn="l" marL="488550" indent="-244275" lvl="1">
                <a:lnSpc>
                  <a:spcPts val="3167"/>
                </a:lnSpc>
                <a:buFont typeface="Arial"/>
                <a:buChar char="•"/>
              </a:pPr>
              <a:r>
                <a:rPr lang="en-US" sz="226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Apprentissage incrémental contre la dérive conceptuelle (Concept Drift).</a:t>
              </a:r>
            </a:p>
            <a:p>
              <a:pPr algn="l" marL="488550" indent="-244275" lvl="1">
                <a:lnSpc>
                  <a:spcPts val="3167"/>
                </a:lnSpc>
                <a:buFont typeface="Arial"/>
                <a:buChar char="•"/>
              </a:pPr>
              <a:r>
                <a:rPr lang="en-US" sz="226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Architectures légères (RF + réseaux) pour l'IoT.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8679905" y="27579697"/>
            <a:ext cx="2286459" cy="2286459"/>
            <a:chOff x="0" y="0"/>
            <a:chExt cx="3048612" cy="30486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48612" cy="3048612"/>
            </a:xfrm>
            <a:custGeom>
              <a:avLst/>
              <a:gdLst/>
              <a:ahLst/>
              <a:cxnLst/>
              <a:rect r="r" b="b" t="t" l="l"/>
              <a:pathLst>
                <a:path h="3048612" w="3048612">
                  <a:moveTo>
                    <a:pt x="0" y="0"/>
                  </a:moveTo>
                  <a:lnTo>
                    <a:pt x="3048612" y="0"/>
                  </a:lnTo>
                  <a:lnTo>
                    <a:pt x="3048612" y="3048612"/>
                  </a:lnTo>
                  <a:lnTo>
                    <a:pt x="0" y="304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36500" y="136357"/>
              <a:ext cx="2783314" cy="2783314"/>
            </a:xfrm>
            <a:custGeom>
              <a:avLst/>
              <a:gdLst/>
              <a:ahLst/>
              <a:cxnLst/>
              <a:rect r="r" b="b" t="t" l="l"/>
              <a:pathLst>
                <a:path h="2783314" w="2783314">
                  <a:moveTo>
                    <a:pt x="0" y="0"/>
                  </a:moveTo>
                  <a:lnTo>
                    <a:pt x="2783314" y="0"/>
                  </a:lnTo>
                  <a:lnTo>
                    <a:pt x="2783314" y="2783314"/>
                  </a:lnTo>
                  <a:lnTo>
                    <a:pt x="0" y="2783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17948408" y="1012126"/>
            <a:ext cx="3017956" cy="1207182"/>
          </a:xfrm>
          <a:custGeom>
            <a:avLst/>
            <a:gdLst/>
            <a:ahLst/>
            <a:cxnLst/>
            <a:rect r="r" b="b" t="t" l="l"/>
            <a:pathLst>
              <a:path h="1207182" w="3017956">
                <a:moveTo>
                  <a:pt x="0" y="0"/>
                </a:moveTo>
                <a:lnTo>
                  <a:pt x="3017956" y="0"/>
                </a:lnTo>
                <a:lnTo>
                  <a:pt x="3017956" y="1207182"/>
                </a:lnTo>
                <a:lnTo>
                  <a:pt x="0" y="12071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446292" y="1012126"/>
            <a:ext cx="1931304" cy="1486138"/>
          </a:xfrm>
          <a:custGeom>
            <a:avLst/>
            <a:gdLst/>
            <a:ahLst/>
            <a:cxnLst/>
            <a:rect r="r" b="b" t="t" l="l"/>
            <a:pathLst>
              <a:path h="1486138" w="1931304">
                <a:moveTo>
                  <a:pt x="0" y="0"/>
                </a:moveTo>
                <a:lnTo>
                  <a:pt x="1931304" y="0"/>
                </a:lnTo>
                <a:lnTo>
                  <a:pt x="1931304" y="1486138"/>
                </a:lnTo>
                <a:lnTo>
                  <a:pt x="0" y="148613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8172000" y="4830002"/>
            <a:ext cx="5040000" cy="61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1"/>
              </a:lnSpc>
            </a:pPr>
            <a:r>
              <a:rPr lang="en-US" sz="3394" b="true">
                <a:solidFill>
                  <a:srgbClr val="4F75A4"/>
                </a:solidFill>
                <a:latin typeface="Poppins Bold"/>
                <a:ea typeface="Poppins Bold"/>
                <a:cs typeface="Poppins Bold"/>
                <a:sym typeface="Poppins Bold"/>
              </a:rPr>
              <a:t>Pipeli</a:t>
            </a:r>
            <a:r>
              <a:rPr lang="en-US" b="true" sz="3394">
                <a:solidFill>
                  <a:srgbClr val="4F75A4"/>
                </a:solidFill>
                <a:latin typeface="Poppins Bold"/>
                <a:ea typeface="Poppins Bold"/>
                <a:cs typeface="Poppins Bold"/>
                <a:sym typeface="Poppins Bold"/>
              </a:rPr>
              <a:t>ne / Méthode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06394" y="14620221"/>
            <a:ext cx="4685034" cy="1087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3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Problématique (Gap) :</a:t>
            </a: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L'évaluation omet souvent la variance inter-exécutions, l'ablation est peu étudiée, et le déséquilibre de classe est ignoré.</a:t>
            </a:r>
          </a:p>
          <a:p>
            <a:pPr algn="l">
              <a:lnSpc>
                <a:spcPts val="3326"/>
              </a:lnSpc>
            </a:pPr>
          </a:p>
          <a:p>
            <a:pPr algn="l">
              <a:lnSpc>
                <a:spcPts val="3326"/>
              </a:lnSpc>
            </a:pPr>
            <a:r>
              <a:rPr lang="en-US" sz="23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 de Recherche (RQ) :</a:t>
            </a: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Quelle approche (RF vs SVM) maximise la détection (PR-AUC) sous contrainte de latence stricte (&lt; 50 ms), et comment résiste-t-elle à l'ablation ?</a:t>
            </a:r>
          </a:p>
          <a:p>
            <a:pPr algn="l">
              <a:lnSpc>
                <a:spcPts val="3326"/>
              </a:lnSpc>
            </a:pPr>
          </a:p>
          <a:p>
            <a:pPr algn="l">
              <a:lnSpc>
                <a:spcPts val="3326"/>
              </a:lnSpc>
            </a:pPr>
            <a:r>
              <a:rPr lang="en-US" sz="23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Contributions :</a:t>
            </a:r>
          </a:p>
          <a:p>
            <a:pPr algn="l" marL="512978" indent="-256489" lvl="1">
              <a:lnSpc>
                <a:spcPts val="3326"/>
              </a:lnSpc>
              <a:buAutoNum type="arabicPeriod" startAt="1"/>
            </a:pP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Comparaison RF vs LinearSVM sous contrainte de temps réel.</a:t>
            </a:r>
          </a:p>
          <a:p>
            <a:pPr algn="l" marL="512978" indent="-256489" lvl="1">
              <a:lnSpc>
                <a:spcPts val="3326"/>
              </a:lnSpc>
              <a:buAutoNum type="arabicPeriod" startAt="1"/>
            </a:pP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Évaluation d'une approche hybride RF-SVM (top-14 features).</a:t>
            </a:r>
          </a:p>
          <a:p>
            <a:pPr algn="l" marL="512978" indent="-256489" lvl="1">
              <a:lnSpc>
                <a:spcPts val="3326"/>
              </a:lnSpc>
              <a:buAutoNum type="arabicPeriod" startAt="1"/>
            </a:pP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Étude de résilience sous ablation drastique (10 features).</a:t>
            </a:r>
          </a:p>
          <a:p>
            <a:pPr algn="l">
              <a:lnSpc>
                <a:spcPts val="3326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795681" y="12623247"/>
            <a:ext cx="3818571" cy="1796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1"/>
              </a:lnSpc>
            </a:pPr>
            <a:r>
              <a:rPr lang="en-US" sz="3394" b="true">
                <a:solidFill>
                  <a:srgbClr val="4F75A4"/>
                </a:solidFill>
                <a:latin typeface="Poppins Bold"/>
                <a:ea typeface="Poppins Bold"/>
                <a:cs typeface="Poppins Bold"/>
                <a:sym typeface="Poppins Bold"/>
              </a:rPr>
              <a:t>Pro</a:t>
            </a:r>
            <a:r>
              <a:rPr lang="en-US" b="true" sz="3394">
                <a:solidFill>
                  <a:srgbClr val="4F75A4"/>
                </a:solidFill>
                <a:latin typeface="Poppins Bold"/>
                <a:ea typeface="Poppins Bold"/>
                <a:cs typeface="Poppins Bold"/>
                <a:sym typeface="Poppins Bold"/>
              </a:rPr>
              <a:t>blématique, RQ &amp; Contributions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07314" y="5582608"/>
            <a:ext cx="4354073" cy="6697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Systèmes de Détection d'Intrusions (IDS) sont critiques. Bien que le Machine Learning améliore la détection, des lacunes majeures persistent face aux données massivement déséquilibrées (80% de trafic bénin). De plus, la contrainte de latence d'inférence en temps réel (&lt; 50 ms) et la robustesse face à la réduction de dimensionnalité (ablation) restent peu documentées.</a:t>
            </a:r>
          </a:p>
          <a:p>
            <a:pPr algn="l">
              <a:lnSpc>
                <a:spcPts val="3326"/>
              </a:lnSpc>
            </a:pPr>
          </a:p>
        </p:txBody>
      </p:sp>
      <p:sp>
        <p:nvSpPr>
          <p:cNvPr name="TextBox 63" id="63"/>
          <p:cNvSpPr txBox="true"/>
          <p:nvPr/>
        </p:nvSpPr>
        <p:spPr>
          <a:xfrm rot="0">
            <a:off x="795681" y="4831984"/>
            <a:ext cx="3818571" cy="61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1"/>
              </a:lnSpc>
            </a:pPr>
            <a:r>
              <a:rPr lang="en-US" b="true" sz="3394">
                <a:solidFill>
                  <a:srgbClr val="4F75A4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543895" y="3560227"/>
            <a:ext cx="8925783" cy="87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4"/>
              </a:lnSpc>
              <a:spcBef>
                <a:spcPct val="0"/>
              </a:spcBef>
            </a:pPr>
            <a:r>
              <a:rPr lang="en-US" sz="24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 SD</a:t>
            </a:r>
            <a:r>
              <a:rPr lang="en-US" sz="2474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IA — ENSET Mohammedia, Université Hassan II de Casablanca, Encadrant : Pr. Soufiane HAMIDA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146426" y="2991550"/>
            <a:ext cx="7533479" cy="568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5"/>
              </a:lnSpc>
            </a:pPr>
            <a:r>
              <a:rPr lang="en-US" b="true" sz="3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Affiliations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584351" y="3587169"/>
            <a:ext cx="7633667" cy="87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47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Marouane Mahboub, Abderahim Farahi, Aboubaker ID Hamide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584351" y="2991550"/>
            <a:ext cx="7633667" cy="568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5"/>
              </a:lnSpc>
            </a:pPr>
            <a:r>
              <a:rPr lang="en-US" b="true" sz="3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Auteurs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785310" y="8314249"/>
            <a:ext cx="5813380" cy="43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6"/>
              </a:lnSpc>
              <a:spcBef>
                <a:spcPct val="0"/>
              </a:spcBef>
            </a:pP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Distribution des Classes — CIC-IDS2017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832945" y="13281175"/>
            <a:ext cx="8302912" cy="211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"/>
              </a:lnSpc>
              <a:spcBef>
                <a:spcPct val="0"/>
              </a:spcBef>
            </a:pPr>
            <a:r>
              <a:rPr lang="en-US" sz="1272">
                <a:solidFill>
                  <a:srgbClr val="000000">
                    <a:alpha val="4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800 k éch. · 80.75 % bénin · 13 types d'attaques · déséquilibre réaliste → PR-AUC privilégiée sur ROC-AUC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276818" y="347462"/>
            <a:ext cx="14246172" cy="240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4"/>
              </a:lnSpc>
            </a:pPr>
            <a:r>
              <a:rPr lang="en-US" b="true" sz="4510">
                <a:solidFill>
                  <a:srgbClr val="4A7FF7"/>
                </a:solidFill>
                <a:latin typeface="Poppins Bold"/>
                <a:ea typeface="Poppins Bold"/>
                <a:cs typeface="Poppins Bold"/>
                <a:sym typeface="Poppins Bold"/>
              </a:rPr>
              <a:t>ÉVALUATION COMPARATIVE ET ÉTUDE D'ABLATION DES MODÈLES D'APPRENTISSAGE AUTOMATIQUE POUR LA DÉTECTION D'INTRUSION EN TEMPS RÉEL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636084" y="5576388"/>
            <a:ext cx="4512981" cy="795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3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Pourquoi RF résiste :</a:t>
            </a: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Les arbres multiples exploitent la redondance des variables. La pondération de classe compense le déséquilibre 80/20 sans recourir à SMOTE.</a:t>
            </a:r>
          </a:p>
          <a:p>
            <a:pPr algn="l">
              <a:lnSpc>
                <a:spcPts val="3326"/>
              </a:lnSpc>
            </a:pPr>
          </a:p>
          <a:p>
            <a:pPr algn="l">
              <a:lnSpc>
                <a:spcPts val="3326"/>
              </a:lnSpc>
            </a:pPr>
            <a:r>
              <a:rPr lang="en-US" sz="23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Pourquoi SVM s'effondre : </a:t>
            </a: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réduction à 10 variables détruit l'espace de séparation du noyau RBF.</a:t>
            </a:r>
          </a:p>
          <a:p>
            <a:pPr algn="l">
              <a:lnSpc>
                <a:spcPts val="3326"/>
              </a:lnSpc>
            </a:pPr>
          </a:p>
          <a:p>
            <a:pPr algn="l">
              <a:lnSpc>
                <a:spcPts val="3326"/>
              </a:lnSpc>
            </a:pPr>
            <a:r>
              <a:rPr lang="en-US" sz="23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Échec de l'hybride (H2) : </a:t>
            </a:r>
            <a:r>
              <a:rPr lang="en-US" sz="2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L'élimination des variables complémentaires nuit gravement à la séparabilité linéaire.</a:t>
            </a:r>
          </a:p>
          <a:p>
            <a:pPr algn="l">
              <a:lnSpc>
                <a:spcPts val="3326"/>
              </a:lnSpc>
            </a:pPr>
          </a:p>
          <a:p>
            <a:pPr algn="l">
              <a:lnSpc>
                <a:spcPts val="3326"/>
              </a:lnSpc>
            </a:pPr>
            <a:r>
              <a:rPr lang="en-US" sz="237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Résilience à l'Ablation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7089262" y="4831984"/>
            <a:ext cx="3818571" cy="61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1"/>
              </a:lnSpc>
            </a:pPr>
            <a:r>
              <a:rPr lang="en-US" sz="3394" b="true">
                <a:solidFill>
                  <a:srgbClr val="4F75A4"/>
                </a:solidFill>
                <a:latin typeface="Poppins Bold"/>
                <a:ea typeface="Poppins Bold"/>
                <a:cs typeface="Poppins Bold"/>
                <a:sym typeface="Poppins Bold"/>
              </a:rPr>
              <a:t>Dis</a:t>
            </a:r>
            <a:r>
              <a:rPr lang="en-US" b="true" sz="3394">
                <a:solidFill>
                  <a:srgbClr val="4F75A4"/>
                </a:solidFill>
                <a:latin typeface="Poppins Bold"/>
                <a:ea typeface="Poppins Bold"/>
                <a:cs typeface="Poppins Bold"/>
                <a:sym typeface="Poppins Bold"/>
              </a:rPr>
              <a:t>cussion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331757" y="14030281"/>
            <a:ext cx="5040000" cy="61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1"/>
              </a:lnSpc>
            </a:pPr>
            <a:r>
              <a:rPr lang="en-US" sz="3394" b="true">
                <a:solidFill>
                  <a:srgbClr val="4F75A4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</a:t>
            </a:r>
            <a:r>
              <a:rPr lang="en-US" b="true" sz="3394">
                <a:solidFill>
                  <a:srgbClr val="4F75A4"/>
                </a:solidFill>
                <a:latin typeface="Poppins Bold"/>
                <a:ea typeface="Poppins Bold"/>
                <a:cs typeface="Poppins Bold"/>
                <a:sym typeface="Poppins Bold"/>
              </a:rPr>
              <a:t>ts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636289" y="23350455"/>
            <a:ext cx="8111422" cy="85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26"/>
              </a:lnSpc>
              <a:spcBef>
                <a:spcPct val="0"/>
              </a:spcBef>
            </a:pPr>
            <a:r>
              <a:rPr lang="en-US" b="true" sz="2375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Tableau des Performances — Moyenne ± σ sur 5 runs</a:t>
            </a:r>
          </a:p>
          <a:p>
            <a:pPr algn="ctr" marL="0" indent="0" lvl="0">
              <a:lnSpc>
                <a:spcPts val="3326"/>
              </a:lnSpc>
              <a:spcBef>
                <a:spcPct val="0"/>
              </a:spcBef>
            </a:pPr>
          </a:p>
        </p:txBody>
      </p:sp>
      <p:sp>
        <p:nvSpPr>
          <p:cNvPr name="TextBox 75" id="75"/>
          <p:cNvSpPr txBox="true"/>
          <p:nvPr/>
        </p:nvSpPr>
        <p:spPr>
          <a:xfrm rot="0">
            <a:off x="7634756" y="20234483"/>
            <a:ext cx="6114489" cy="43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6"/>
              </a:lnSpc>
              <a:spcBef>
                <a:spcPct val="0"/>
              </a:spcBef>
            </a:pPr>
            <a:r>
              <a:rPr lang="en-US" b="true" sz="23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Precision-Recall Curves per Hypothesis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410261" y="16607253"/>
            <a:ext cx="4563479" cy="43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6"/>
              </a:lnSpc>
              <a:spcBef>
                <a:spcPct val="0"/>
              </a:spcBef>
            </a:pPr>
            <a:r>
              <a:rPr lang="en-US" b="true" sz="23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 Comparison Summary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7089262" y="16042841"/>
            <a:ext cx="3818571" cy="120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1"/>
              </a:lnSpc>
            </a:pPr>
            <a:r>
              <a:rPr lang="en-US" sz="3394" b="true">
                <a:solidFill>
                  <a:srgbClr val="4F75A4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</a:t>
            </a:r>
          </a:p>
          <a:p>
            <a:pPr algn="ctr">
              <a:lnSpc>
                <a:spcPts val="4751"/>
              </a:lnSpc>
            </a:pPr>
            <a:r>
              <a:rPr lang="en-US" sz="3394" b="true">
                <a:solidFill>
                  <a:srgbClr val="4F75A4"/>
                </a:solidFill>
                <a:latin typeface="Poppins Bold"/>
                <a:ea typeface="Poppins Bold"/>
                <a:cs typeface="Poppins Bold"/>
                <a:sym typeface="Poppins Bold"/>
              </a:rPr>
              <a:t>&amp; PERSPECTIVES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6487327" y="17370000"/>
            <a:ext cx="4759653" cy="430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226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POINTS CLÉS</a:t>
            </a:r>
          </a:p>
          <a:p>
            <a:pPr algn="l" marL="488550" indent="-244275" lvl="1">
              <a:lnSpc>
                <a:spcPts val="3167"/>
              </a:lnSpc>
              <a:buFont typeface="Arial"/>
              <a:buChar char="•"/>
            </a:pPr>
            <a:r>
              <a:rPr lang="en-US" sz="22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RF Optimal : Détection parfaite (PR-AUC 0.9997) en temps réel (21 ms).</a:t>
            </a:r>
          </a:p>
          <a:p>
            <a:pPr algn="l" marL="488550" indent="-244275" lvl="1">
              <a:lnSpc>
                <a:spcPts val="3167"/>
              </a:lnSpc>
              <a:buFont typeface="Arial"/>
              <a:buChar char="•"/>
            </a:pPr>
            <a:r>
              <a:rPr lang="en-US" sz="22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Idéal pour l'embarqué : RF résiste à l'ablation (PR-AUC 0.9965 avec 10 variables).</a:t>
            </a:r>
          </a:p>
          <a:p>
            <a:pPr algn="l" marL="488550" indent="-244275" lvl="1">
              <a:lnSpc>
                <a:spcPts val="3167"/>
              </a:lnSpc>
              <a:buFont typeface="Arial"/>
              <a:buChar char="•"/>
            </a:pPr>
            <a:r>
              <a:rPr lang="en-US" sz="22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Limites SVM : L'hybride est contre-productif et SVM s'effondre en configuration réduite.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95681" y="27221666"/>
            <a:ext cx="4962275" cy="61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394" b="true">
                <a:solidFill>
                  <a:srgbClr val="4F75A4"/>
                </a:solidFill>
                <a:latin typeface="Poppins Bold"/>
                <a:ea typeface="Poppins Bold"/>
                <a:cs typeface="Poppins Bold"/>
                <a:sym typeface="Poppins Bold"/>
              </a:rPr>
              <a:t>Référenc</a:t>
            </a:r>
            <a:r>
              <a:rPr lang="en-US" sz="3394" b="true">
                <a:solidFill>
                  <a:srgbClr val="4F75A4"/>
                </a:solidFill>
                <a:latin typeface="Poppins Bold"/>
                <a:ea typeface="Poppins Bold"/>
                <a:cs typeface="Poppins Bold"/>
                <a:sym typeface="Poppins Bold"/>
              </a:rPr>
              <a:t>es &amp; Contact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795681" y="27839213"/>
            <a:ext cx="12416319" cy="226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3"/>
              </a:lnSpc>
            </a:pPr>
            <a:r>
              <a:rPr lang="en-US" sz="18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[1] Farnaaz &amp; Jabbar — Perf</a:t>
            </a:r>
            <a:r>
              <a:rPr lang="en-US" sz="18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ormance Comparison of SVM, Random Forest, and Extreme Learning Machine for Intrusion Detection. IEEE Xplore, 2018.</a:t>
            </a:r>
          </a:p>
          <a:p>
            <a:pPr algn="l">
              <a:lnSpc>
                <a:spcPts val="2573"/>
              </a:lnSpc>
              <a:spcBef>
                <a:spcPct val="0"/>
              </a:spcBef>
            </a:pPr>
            <a:r>
              <a:rPr lang="en-US" sz="18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[2] </a:t>
            </a:r>
            <a:r>
              <a:rPr lang="en-US" sz="18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Zhang et al. — IDS Based on RF and SVM. IEEE, 2017.</a:t>
            </a:r>
          </a:p>
          <a:p>
            <a:pPr algn="l">
              <a:lnSpc>
                <a:spcPts val="2573"/>
              </a:lnSpc>
              <a:spcBef>
                <a:spcPct val="0"/>
              </a:spcBef>
            </a:pPr>
            <a:r>
              <a:rPr lang="en-US" sz="18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[3] Chen et al. — Lightweight Ensemble Learning for Real-Time IoT Intrusion Detection. Elsevier Computers &amp; Security, 2024.</a:t>
            </a:r>
          </a:p>
          <a:p>
            <a:pPr algn="l">
              <a:lnSpc>
                <a:spcPts val="2573"/>
              </a:lnSpc>
              <a:spcBef>
                <a:spcPct val="0"/>
              </a:spcBef>
            </a:pPr>
            <a:r>
              <a:rPr lang="en-US" sz="18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[4] Smith et al. — Evaluating Machine Learning Classifiers for IDS under Concept Drift. IEEE TNSM, 2023.</a:t>
            </a:r>
          </a:p>
          <a:p>
            <a:pPr algn="just">
              <a:lnSpc>
                <a:spcPts val="2573"/>
              </a:lnSpc>
              <a:spcBef>
                <a:spcPct val="0"/>
              </a:spcBef>
            </a:pPr>
            <a:r>
              <a:rPr lang="en-US" sz="18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[5] Saad et al. — Host Based IDS... SVM over RF. IEEE, 2023.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530501" y="27728734"/>
            <a:ext cx="3913653" cy="194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73"/>
              </a:lnSpc>
            </a:pPr>
            <a:r>
              <a:rPr lang="en-US" sz="18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Aboubaker ID Hamide</a:t>
            </a:r>
          </a:p>
          <a:p>
            <a:pPr algn="r">
              <a:lnSpc>
                <a:spcPts val="2573"/>
              </a:lnSpc>
            </a:pPr>
            <a:r>
              <a:rPr lang="en-US" sz="18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aboubakeridbsn@gmail.com</a:t>
            </a:r>
          </a:p>
          <a:p>
            <a:pPr algn="r">
              <a:lnSpc>
                <a:spcPts val="2573"/>
              </a:lnSpc>
            </a:pPr>
            <a:r>
              <a:rPr lang="en-US" sz="18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Abderahim Farahi</a:t>
            </a:r>
          </a:p>
          <a:p>
            <a:pPr algn="r">
              <a:lnSpc>
                <a:spcPts val="2573"/>
              </a:lnSpc>
              <a:spcBef>
                <a:spcPct val="0"/>
              </a:spcBef>
            </a:pPr>
            <a:r>
              <a:rPr lang="en-US" sz="18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farahiabderahim03@gmail.c</a:t>
            </a:r>
            <a:r>
              <a:rPr lang="en-US" sz="18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</a:t>
            </a:r>
          </a:p>
          <a:p>
            <a:pPr algn="r">
              <a:lnSpc>
                <a:spcPts val="2573"/>
              </a:lnSpc>
              <a:spcBef>
                <a:spcPct val="0"/>
              </a:spcBef>
            </a:pPr>
            <a:r>
              <a:rPr lang="en-US" b="true" sz="183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Marouane Mahboub</a:t>
            </a:r>
          </a:p>
          <a:p>
            <a:pPr algn="r">
              <a:lnSpc>
                <a:spcPts val="2573"/>
              </a:lnSpc>
              <a:spcBef>
                <a:spcPct val="0"/>
              </a:spcBef>
            </a:pPr>
            <a:r>
              <a:rPr lang="en-US" sz="183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marouane.ma7boub@gmail.com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DAHIEJNL4AM</dc:identifier>
  <dcterms:modified xsi:type="dcterms:W3CDTF">2011-08-01T06:04:30Z</dcterms:modified>
  <cp:revision>1</cp:revision>
  <dc:title>Poster (59.4 x 84.1 cm)</dc:title>
</cp:coreProperties>
</file>